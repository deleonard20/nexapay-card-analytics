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DTI</c:v>
                </c:pt>
              </c:strCache>
            </c:strRef>
          </c:tx>
          <c:spPr>
            <a:solidFill>
              <a:srgbClr val="C636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36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77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</c:v>
                  </c:pt>
                  <c:pt idx="4">
                    <c:v>Excep.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0.27</c:v>
                </c:pt>
                <c:pt idx="2">
                  <c:v>0.23</c:v>
                </c:pt>
                <c:pt idx="3">
                  <c:v>0.22</c:v>
                </c:pt>
                <c:pt idx="4">
                  <c:v>0.22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362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4F46E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EC9B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7771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B0574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AEB6C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Hibernating</c:v>
                </c:pt>
                <c:pt idx="1">
                  <c:v>Champions</c:v>
                </c:pt>
                <c:pt idx="2">
                  <c:v>Potential Loyalist</c:v>
                </c:pt>
                <c:pt idx="3">
                  <c:v>Loyal</c:v>
                </c:pt>
                <c:pt idx="4">
                  <c:v>Needing Attention</c:v>
                </c:pt>
                <c:pt idx="5">
                  <c:v>At Risk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772</c:v>
                </c:pt>
                <c:pt idx="1">
                  <c:v>398</c:v>
                </c:pt>
                <c:pt idx="2">
                  <c:v>289</c:v>
                </c:pt>
                <c:pt idx="3">
                  <c:v>287</c:v>
                </c:pt>
                <c:pt idx="4">
                  <c:v>168</c:v>
                </c:pt>
                <c:pt idx="5">
                  <c:v>16</c:v>
                </c:pt>
                <c:pt idx="6">
                  <c:v>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926080"/>
            <a:ext cx="2926080" cy="292608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475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2120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ANALYTICS PROJECT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6459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15–25% Transaction Growth While Minimizing Fraud Risk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21208" y="2788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segmentation, fraud performance &amp; growth strategy for a digital credit-card issuer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520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2A335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657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5,528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Cards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24328" y="3520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2A335A"/>
          </a:solidFill>
          <a:ln/>
        </p:spPr>
      </p:sp>
      <p:sp>
        <p:nvSpPr>
          <p:cNvPr id="14" name="Text 11"/>
          <p:cNvSpPr/>
          <p:nvPr/>
        </p:nvSpPr>
        <p:spPr>
          <a:xfrm>
            <a:off x="2670048" y="3657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670048" y="4114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45736" y="3520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2A335A"/>
          </a:solidFill>
          <a:ln/>
        </p:spPr>
      </p:sp>
      <p:sp>
        <p:nvSpPr>
          <p:cNvPr id="17" name="Text 14"/>
          <p:cNvSpPr/>
          <p:nvPr/>
        </p:nvSpPr>
        <p:spPr>
          <a:xfrm>
            <a:off x="4791456" y="3657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791456" y="4114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Brands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67144" y="3520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2A335A"/>
          </a:solidFill>
          <a:ln/>
        </p:spPr>
      </p:sp>
      <p:sp>
        <p:nvSpPr>
          <p:cNvPr id="20" name="Text 17"/>
          <p:cNvSpPr/>
          <p:nvPr/>
        </p:nvSpPr>
        <p:spPr>
          <a:xfrm>
            <a:off x="6912864" y="3657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12864" y="4114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 (L6M)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2120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Nexantara Financial  ·  Deleonard Simanjorang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digital credit-card issuer operating under Nexantara Financial, serving retail cardholders across Indonesia through fully-digital onboarding and transactions.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spans four card brands — Mastercard, Visa, American Express and JCB — analysed over a six-month non-fraud transaction window (L6M).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19472" y="1554480"/>
            <a:ext cx="457200" cy="45720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01184" y="20848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01184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(L6M)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0" y="137160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22592" y="1554480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642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04304" y="20848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Brands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004304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Portfolio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54880" y="3127248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19472" y="331012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1985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1184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1,938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4901184" y="4242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Cardholders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58000" y="3127248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22592" y="3310128"/>
            <a:ext cx="457200" cy="457200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41985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04304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7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Segments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004304" y="4242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That Shape the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457200" cy="45720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82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13632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52728" y="15727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Low — But Still Costly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12140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sits at just 0.22% (better than the 0.5–1.2% fintech average), yet fraudulent transactions still erode ~14–15% of card profit. Real-time monitoring is the lever.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57276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6824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74152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413248" y="15727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Brands Behave Differently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46320" y="212140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leads transaction volume, American Express leads value, and JCB lags on both — enabling brand-specific promotion and monitoring.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127248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328416"/>
            <a:ext cx="457200" cy="457200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3814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252728" y="33284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Growth Pockets Exist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85800" y="387705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Cardholders aged 30–45 and the healthy-DTI 'Good' credit segment are under-utilising their cards — the strongest, lowest-risk uplift potential.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63440" y="3127248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3328416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43814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74152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5413248" y="33284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 Cardholders Are Priority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46320" y="387705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flags 289 Potential Loyalists and 168 Customers Needing Attention — warm but under-transacting — the direct target for a 15–25% frequency lift.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926080"/>
            <a:ext cx="3657600" cy="365760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 warm cardholders are </a:t>
            </a:r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E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under-transacting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21208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frequency uplift — not costly acquisition — is the #1 growth lever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A33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61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24328" y="2606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A335A"/>
          </a:solidFill>
          <a:ln/>
        </p:spPr>
      </p:sp>
      <p:sp>
        <p:nvSpPr>
          <p:cNvPr id="10" name="Text 8"/>
          <p:cNvSpPr/>
          <p:nvPr/>
        </p:nvSpPr>
        <p:spPr>
          <a:xfrm>
            <a:off x="2670048" y="2761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9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670048" y="3310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45736" y="2606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A335A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2761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791456" y="3310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Uplift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67144" y="2606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A335A"/>
          </a:solidFill>
          <a:ln/>
        </p:spPr>
      </p:sp>
      <p:sp>
        <p:nvSpPr>
          <p:cNvPr id="16" name="Text 14"/>
          <p:cNvSpPr/>
          <p:nvPr/>
        </p:nvSpPr>
        <p:spPr>
          <a:xfrm>
            <a:off x="6912864" y="2761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0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912864" y="3310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Eroded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Fraud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 (289) + Customers Needing Attention (168) are recent, healthy-risk cardholders whose purchase frequency has not been maximised — reactivating them is cheaper than acquiring new customers and protects margin.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377440"/>
            <a:ext cx="4023360" cy="402336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-1371600"/>
            <a:ext cx="2743200" cy="274320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2120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questions this project answers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Nexantara Financial  ·  Deleonard Simanjorang  · 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THIS? — PROJECT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Blind Spots in the Card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715768" cy="2743200"/>
          </a:xfrm>
          <a:prstGeom prst="roundRect">
            <a:avLst>
              <a:gd name="adj" fmla="val 269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91640"/>
            <a:ext cx="603504" cy="603504"/>
          </a:xfrm>
          <a:prstGeom prst="ellipse">
            <a:avLst/>
          </a:prstGeom>
          <a:solidFill>
            <a:srgbClr val="FAEB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84251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46888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Erodes Profit Unseen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310896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 low 0.22% fraud rate, ~14–15% of card profit is lost to fraud. Losses are reviewed after the fact, not caught in real 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1568" y="1463040"/>
            <a:ext cx="2715768" cy="2743200"/>
          </a:xfrm>
          <a:prstGeom prst="roundRect">
            <a:avLst>
              <a:gd name="adj" fmla="val 269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91640"/>
            <a:ext cx="603504" cy="603504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184251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46888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Health Unknown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10896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segmentation, NexaPay cannot separate warm-but-low-frequency cardholders from those quietly churning — 457 (23.6%) are under-transacting.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0216" y="1463040"/>
            <a:ext cx="2715768" cy="2743200"/>
          </a:xfrm>
          <a:prstGeom prst="roundRect">
            <a:avLst>
              <a:gd name="adj" fmla="val 269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6248" y="1691640"/>
            <a:ext cx="603504" cy="603504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184251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56248" y="246888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Undifferentiated Strategy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56248" y="310896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brands and age/credit segments are treated uniformly. Mastercard, Amex and JCB — and the 30–45 age group — lack data-driven targeting.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Questions We Answer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3736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lacks visibility into where profit leaks to fraud and which cardholders are under-transacting — making it impossible to prioritise growth campaigns or fraud controls.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2715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" y="2706624"/>
            <a:ext cx="512064" cy="512064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59" y="2829519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41448" y="26517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0664" y="331012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Fraud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0664" y="374904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net card profit and the fraud impact over the L6M window. Benchmark the fraud rate against the industry.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01568" y="2468880"/>
            <a:ext cx="2715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39312" y="2706624"/>
            <a:ext cx="512064" cy="512064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207" y="2829519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0096" y="26517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639312" y="331012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Segmentation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639312" y="374904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RFM to segment 1,938 cardholders. Flag priority segments that are warm but under-transacting.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300216" y="2468880"/>
            <a:ext cx="2715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37960" y="2706624"/>
            <a:ext cx="512064" cy="512064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855" y="2829519"/>
            <a:ext cx="266273" cy="26627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38744" y="26517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6537960" y="331012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37960" y="374904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behaviour and segments into a concrete 15–25% frequency-uplift plan by brand, age and credit profile.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10512"/>
            <a:ext cx="566928" cy="566928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195224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4505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" y="272491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3090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analysis objectives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12848" y="155448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15768" y="1810512"/>
            <a:ext cx="566928" cy="566928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52244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04288" y="24505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286000" y="272491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86000" y="3090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+ User data: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~5,559 cards, 1,938 users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922776" y="155448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25696" y="1810512"/>
            <a:ext cx="566928" cy="566928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1952244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14216" y="24505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995928" y="272491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995928" y="3090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casting, missing-value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treatment, derive Age/DTI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632704" y="155448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35624" y="1810512"/>
            <a:ext cx="566928" cy="566928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1952244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24144" y="24505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705856" y="272491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705856" y="3090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fraud, card brand,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DTI, RFM segmentation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342632" y="155448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845552" y="1810512"/>
            <a:ext cx="566928" cy="566928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284" y="1952244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34072" y="24505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415784" y="272491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15784" y="3090672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deck &amp;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recommendations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0FC"/>
          </a:solidFill>
          <a:ln/>
        </p:spPr>
      </p:sp>
      <p:sp>
        <p:nvSpPr>
          <p:cNvPr id="35" name="Text 28"/>
          <p:cNvSpPr/>
          <p:nvPr/>
        </p:nvSpPr>
        <p:spPr>
          <a:xfrm>
            <a:off x="713232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pandas, numpy (cleaning &amp; analysis)   ·   Google Colab (notebook)   ·   Matplotlib &amp; Seaborn (visualisation)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377440"/>
            <a:ext cx="4023360" cy="402336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-1371600"/>
            <a:ext cx="2743200" cy="274320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2120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fraud, card brand, financial health, RFM segmentation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Nexantara Financial  ·  Deleonard Simanjorang  ·  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DATA TELL US? — PROFIT &amp; FRAUD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Fraud Rate With a Real Profit Cost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14830"/>
            <a:ext cx="1783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76072" y="2182673"/>
            <a:ext cx="172821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(L6M)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986430"/>
            <a:ext cx="1783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6072" y="3554273"/>
            <a:ext cx="172821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Eroded by Fraud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vs industry benchmark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banks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7480" y="2130552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EE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2130552"/>
            <a:ext cx="411480" cy="237744"/>
          </a:xfrm>
          <a:prstGeom prst="roundRect">
            <a:avLst>
              <a:gd name="adj" fmla="val 11538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1122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587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97480" y="2843784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EE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697480" y="2843784"/>
            <a:ext cx="603504" cy="237744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8254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33009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banks / fintech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97480" y="3557016"/>
            <a:ext cx="3291840" cy="237744"/>
          </a:xfrm>
          <a:prstGeom prst="roundRect">
            <a:avLst>
              <a:gd name="adj" fmla="val 11538"/>
            </a:avLst>
          </a:prstGeom>
          <a:solidFill>
            <a:srgbClr val="EEF1F6"/>
          </a:solidFill>
          <a:ln/>
        </p:spPr>
      </p:sp>
      <p:sp>
        <p:nvSpPr>
          <p:cNvPr id="21" name="Shape 19"/>
          <p:cNvSpPr/>
          <p:nvPr/>
        </p:nvSpPr>
        <p:spPr>
          <a:xfrm>
            <a:off x="2697480" y="3557016"/>
            <a:ext cx="2331720" cy="237744"/>
          </a:xfrm>
          <a:prstGeom prst="roundRect">
            <a:avLst>
              <a:gd name="adj" fmla="val 11538"/>
            </a:avLst>
          </a:prstGeom>
          <a:solidFill>
            <a:srgbClr val="C77714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0.5–1.2%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417320"/>
            <a:ext cx="1737360" cy="2606040"/>
          </a:xfrm>
          <a:prstGeom prst="roundRect">
            <a:avLst>
              <a:gd name="adj" fmla="val 4211"/>
            </a:avLst>
          </a:prstGeom>
          <a:solidFill>
            <a:srgbClr val="E4F4F1"/>
          </a:solidFill>
          <a:ln/>
        </p:spPr>
      </p:sp>
      <p:sp>
        <p:nvSpPr>
          <p:cNvPr id="24" name="Shape 22"/>
          <p:cNvSpPr/>
          <p:nvPr/>
        </p:nvSpPr>
        <p:spPr>
          <a:xfrm>
            <a:off x="708660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1709928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59168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059168" y="2395728"/>
            <a:ext cx="1481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already beats the fintech average — the win is protecting the profit that fraud still quietly removes, via real-time monitoring.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/>
        </p:spPr>
      </p:sp>
      <p:sp>
        <p:nvSpPr>
          <p:cNvPr id="29" name="Text 26"/>
          <p:cNvSpPr/>
          <p:nvPr/>
        </p:nvSpPr>
        <p:spPr>
          <a:xfrm>
            <a:off x="713232" y="42793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control is a margin-protection play, not a crisis — apply step-up OTP only to high-risk transactions to avoid adding friction.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DATA TELL US? — CARD BRAND BEHAVIOUR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Plays a Different Role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282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488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249631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EF0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leader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2843784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card — drives transaction count. Target retail &amp; dining promos; needs tighter fraud monitoring due to volume.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633472" y="141732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16352" y="1618488"/>
            <a:ext cx="457200" cy="4572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7282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16352" y="21488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2816352" y="249631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7EAF4"/>
          </a:solidFill>
          <a:ln/>
        </p:spPr>
      </p:sp>
      <p:sp>
        <p:nvSpPr>
          <p:cNvPr id="16" name="Text 12"/>
          <p:cNvSpPr/>
          <p:nvPr/>
        </p:nvSpPr>
        <p:spPr>
          <a:xfrm>
            <a:off x="2816352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leader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816352" y="2843784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 per transaction — premium positioning. Sustain with high-end retail &amp; airport benefits; high impact per fraud.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4764024" y="141732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46904" y="1618488"/>
            <a:ext cx="457200" cy="45720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72821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46904" y="21488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4946904" y="249631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23" name="Text 18"/>
          <p:cNvSpPr/>
          <p:nvPr/>
        </p:nvSpPr>
        <p:spPr>
          <a:xfrm>
            <a:off x="4946904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946904" y="2843784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transaction activity alongside Mastercard. Revenue upside, but volume raises fraud exposure — monitor closely.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6894576" y="141732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77456" y="1618488"/>
            <a:ext cx="457200" cy="457200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172821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77456" y="21488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JCB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077456" y="249631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BF1E3"/>
          </a:solidFill>
          <a:ln/>
        </p:spPr>
      </p:sp>
      <p:sp>
        <p:nvSpPr>
          <p:cNvPr id="30" name="Text 24"/>
          <p:cNvSpPr/>
          <p:nvPr/>
        </p:nvSpPr>
        <p:spPr>
          <a:xfrm>
            <a:off x="7077456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7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077456" y="2843784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on both frequency and value. Needs awareness &amp; marketing before pursuing broader growth.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0FC"/>
          </a:solidFill>
          <a:ln/>
        </p:spPr>
      </p:sp>
      <p:sp>
        <p:nvSpPr>
          <p:cNvPr id="33" name="Text 27"/>
          <p:cNvSpPr/>
          <p:nvPr/>
        </p:nvSpPr>
        <p:spPr>
          <a:xfrm>
            <a:off x="713232" y="405993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lens: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activity lifts revenue but also fraud exposure — Mastercard &amp; Visa need volume-based monitoring, while Amex carries higher impact per fraudulent transaction.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DATA TELL US? — FINANCIAL HEALTH &amp; GROWTH POCKETS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Low-Risk Upside Lives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DTI by credit score (approx.)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691640"/>
          <a:ext cx="3977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041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relationship: the higher the credit score, the lower the DTI (financial risk).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141732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61848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72821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600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30–45 = Prime Target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203911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credit limit rises with age (peaks at 65+); the 30–45 group pairs financial stability with moderate limits — ideal for cashback, travel perks and instalment offers.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283464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3035808"/>
            <a:ext cx="457200" cy="45720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14553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'Good' Credit Segment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46320" y="34564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DTI (~0.23) yet lower average transaction count than riskier tiers — awareness and education can safely lift their card usage.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SEGMENTATION — RFM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1,938 Cardholders by Behaviour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on non-fraud L6M activity — </a:t>
            </a:r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(days since last transaction)  ·  </a:t>
            </a:r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(count of transactions)  ·  </a:t>
            </a:r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(non-fraud value), each scored 1–5 via quintile.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470916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14300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Cardholders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 Base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Hibernating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772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362F"/>
                          </a:solidFill>
                        </a:rPr>
                        <a:t>39.8%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Champions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398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20.5%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Potential Loyalist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289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</a:rPr>
                        <a:t>14.9%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Loyal Customers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287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14.8%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Customers Needing Attention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168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77714"/>
                          </a:solidFill>
                        </a:rPr>
                        <a:t>8.7%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At Risk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16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362F"/>
                          </a:solidFill>
                        </a:rPr>
                        <a:t>0.8%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Recent + Promising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0.4%</a:t>
                      </a:r>
                      <a:endParaRPr lang="en-US" sz="10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2356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mix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40680" y="1828800"/>
          <a:ext cx="3246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51960"/>
            <a:ext cx="4709160" cy="411480"/>
          </a:xfrm>
          <a:prstGeom prst="roundRect">
            <a:avLst>
              <a:gd name="adj" fmla="val 13333"/>
            </a:avLst>
          </a:prstGeom>
          <a:solidFill>
            <a:srgbClr val="EEF0FC"/>
          </a:solidFill>
          <a:ln/>
        </p:spPr>
      </p:sp>
      <p:sp>
        <p:nvSpPr>
          <p:cNvPr id="9" name="Text 5"/>
          <p:cNvSpPr/>
          <p:nvPr/>
        </p:nvSpPr>
        <p:spPr>
          <a:xfrm>
            <a:off x="658368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 + Customers Needing Attention = 457 cardholders.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SEGMENTATION — PRIORITY SEGMENTS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Segments, One Growth Play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73352"/>
            <a:ext cx="566928" cy="566928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1508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20391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· 14.9%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587752"/>
            <a:ext cx="237744" cy="237744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32" y="2641244"/>
            <a:ext cx="130759" cy="1307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25237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cardholders whose purchase frequency isn't yet maximised.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" y="3209544"/>
            <a:ext cx="237744" cy="237744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32" y="3263036"/>
            <a:ext cx="130759" cy="1307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4712" y="3145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nudge a repeat than to reactivate dormant users — protects margin.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77240" y="3831336"/>
            <a:ext cx="237744" cy="237744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32" y="3884828"/>
            <a:ext cx="130759" cy="1307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24712" y="37673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cross/upsell and loyalty enrolment.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663440" y="14173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919472" y="1673352"/>
            <a:ext cx="566928" cy="566928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04" y="1815084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2356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Needing Attention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5623560" y="20391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· 8.7%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 priority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937760" y="2587752"/>
            <a:ext cx="237744" cy="237744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252" y="2641244"/>
            <a:ext cx="130759" cy="13075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85232" y="25237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buyers, but frequency and recency are declining — early churn signal.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4937760" y="3209544"/>
            <a:ext cx="237744" cy="237744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252" y="3263036"/>
            <a:ext cx="130759" cy="13075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85232" y="3145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nudges (card-usage incentives) can re-engage before dormancy.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937760" y="3831336"/>
            <a:ext cx="237744" cy="237744"/>
          </a:xfrm>
          <a:prstGeom prst="ellipse">
            <a:avLst/>
          </a:prstGeom>
          <a:solidFill>
            <a:srgbClr val="FBF1E3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1252" y="3884828"/>
            <a:ext cx="130759" cy="13075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85232" y="37673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limited-time offers and reminders based on past spend.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33" name="Text 2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377440"/>
            <a:ext cx="4023360" cy="402336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-1371600"/>
            <a:ext cx="2743200" cy="274320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2120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data-driven moves for 15–25% transaction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Nexantara Financial  ·  Deleonard Simanjorang  ·  2026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Usage Incentives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EEF0F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2646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874" y="1544970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37160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 priority cardholders (Potential Loyalist + Customers Needing Attention) are warm but under-transacting — many stop at 1–2 transactions.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2624328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" y="2668219"/>
            <a:ext cx="131674" cy="1316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2560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repeat-usage nudges after the first transactions.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0352" y="3191256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3235147"/>
            <a:ext cx="131674" cy="1316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31272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Cardholders not enrolled in any loyalty mechanic.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30352" y="3758184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" y="3802075"/>
            <a:ext cx="131674" cy="1316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" y="36941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milestone that rewards the next transaction.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66344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606040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828032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milestone incentives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828032" y="2953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/ fee waivers tied to the 3rd, 5th and 8th transaction — light on margin.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4663440" y="3447288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828032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nudges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828032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In-app, WhatsApp and email reminders based on past spend categories (dining, travel, top-ups).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2340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" y="437997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transaction frequency by 15–25% among targeted segments, at lower cost than new-customer acquisition.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/ Membership Program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E4F4F1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2646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874" y="1544970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37160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(398) and Loyal (287) drive most revenue, but there is no structured mechanic to protect them or pull warm segments upward.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2624328"/>
            <a:ext cx="219456" cy="219456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" y="2668219"/>
            <a:ext cx="131674" cy="1316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2560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cardholders can drift to lower-frequency segments unnoticed.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0352" y="3191256"/>
            <a:ext cx="219456" cy="219456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3235147"/>
            <a:ext cx="131674" cy="1316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31272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segments lack a reason to consolidate spend on the card.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30352" y="3758184"/>
            <a:ext cx="219456" cy="219456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" y="3802075"/>
            <a:ext cx="131674" cy="1316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" y="36941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cheaper than reactivation.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66344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606040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828032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/ tiered membership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828032" y="2953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card usage; unlock benefits at usage tiers to lift frequency.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4663440" y="3447288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828032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guardrails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828032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a Loyal/Champion cardholder's recency slips; trigger targeted re-engagement.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2340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" y="437997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revenue concentration in top segments and convert Potential Loyalists into repeat users.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AEBEA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2646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874" y="1544970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37160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6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is low (0.22%) yet still erodes ~14–15% of card profit — losses are reviewed after the fact, not intercepted.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Hypotheses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2624328"/>
            <a:ext cx="219456" cy="219456"/>
          </a:xfrm>
          <a:prstGeom prst="ellipse">
            <a:avLst/>
          </a:prstGeom>
          <a:solidFill>
            <a:srgbClr val="FAEBE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" y="2668219"/>
            <a:ext cx="131674" cy="1316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2560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brands (Mastercard, Visa) concentrate fraud exposure.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0352" y="3191256"/>
            <a:ext cx="219456" cy="219456"/>
          </a:xfrm>
          <a:prstGeom prst="ellipse">
            <a:avLst/>
          </a:prstGeom>
          <a:solidFill>
            <a:srgbClr val="FAEBE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3235147"/>
            <a:ext cx="131674" cy="1316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31272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carries higher impact per fraudulent transaction.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30352" y="3758184"/>
            <a:ext cx="219456" cy="219456"/>
          </a:xfrm>
          <a:prstGeom prst="ellipse">
            <a:avLst/>
          </a:prstGeom>
          <a:solidFill>
            <a:srgbClr val="FAEBE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" y="3802075"/>
            <a:ext cx="131674" cy="1316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" y="36941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step-up authentication targeted at high-risk transactions.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66344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606040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828032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828032" y="2953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transactions live; flag high-risk channel / merchant / method patterns.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4663440" y="3447288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828032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step-up OTP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828032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OTP only to high-risk transactions — cut losses without adding friction for everyone.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2340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" y="437997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fraud-driven profit erosion while preserving a frictionless experience for low-risk transactions.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377440"/>
            <a:ext cx="4023360" cy="402336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-1371600"/>
            <a:ext cx="2743200" cy="274320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2120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six-month path from insight to measurable ROI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Nexantara Financial  ·  Deleonard Simanjorang  ·  2026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Analysis to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7160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protects a healthy 0.22% fraud position while unlocking growth from 457 under-transacting cardholders. Three interventions — usage incentives, a loyalty program and real-time fraud control — target a 15–25% frequency uplift, achieved more efficiently than costly new-customer acquisition.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715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2532888"/>
            <a:ext cx="475488" cy="475488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5176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07592" y="2551176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07592" y="278892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64" y="3218688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3257093"/>
            <a:ext cx="106070" cy="1060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14984" y="3145536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tiered usage incentives (3rd/5th/8th txn)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40664" y="3621024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3659429"/>
            <a:ext cx="106070" cy="1060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4984" y="354787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real-time fraud + step-up OTP rules</a:t>
            </a:r>
            <a:endParaRPr lang="en-US" sz="930" dirty="0"/>
          </a:p>
        </p:txBody>
      </p:sp>
      <p:sp>
        <p:nvSpPr>
          <p:cNvPr id="17" name="Shape 12"/>
          <p:cNvSpPr/>
          <p:nvPr/>
        </p:nvSpPr>
        <p:spPr>
          <a:xfrm>
            <a:off x="740664" y="4023360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4061765"/>
            <a:ext cx="106070" cy="1060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4984" y="395020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priority segments into loyalty pilot</a:t>
            </a:r>
            <a:endParaRPr lang="en-US" sz="930" dirty="0"/>
          </a:p>
        </p:txBody>
      </p:sp>
      <p:sp>
        <p:nvSpPr>
          <p:cNvPr id="20" name="Shape 14"/>
          <p:cNvSpPr/>
          <p:nvPr/>
        </p:nvSpPr>
        <p:spPr>
          <a:xfrm>
            <a:off x="3401568" y="2331720"/>
            <a:ext cx="2715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621024" y="2532888"/>
            <a:ext cx="475488" cy="475488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265176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06240" y="2551176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206240" y="278892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3639312" y="3218688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7717" y="3257093"/>
            <a:ext cx="106070" cy="10607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913632" y="3145536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frequency uplift by segment &amp; brand</a:t>
            </a:r>
            <a:endParaRPr lang="en-US" sz="930" dirty="0"/>
          </a:p>
        </p:txBody>
      </p:sp>
      <p:sp>
        <p:nvSpPr>
          <p:cNvPr id="28" name="Shape 20"/>
          <p:cNvSpPr/>
          <p:nvPr/>
        </p:nvSpPr>
        <p:spPr>
          <a:xfrm>
            <a:off x="3639312" y="3621024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7717" y="3659429"/>
            <a:ext cx="106070" cy="10607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913632" y="354787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RFM monthly — catch new at-risk cardholders</a:t>
            </a:r>
            <a:endParaRPr lang="en-US" sz="930" dirty="0"/>
          </a:p>
        </p:txBody>
      </p:sp>
      <p:sp>
        <p:nvSpPr>
          <p:cNvPr id="31" name="Shape 22"/>
          <p:cNvSpPr/>
          <p:nvPr/>
        </p:nvSpPr>
        <p:spPr>
          <a:xfrm>
            <a:off x="3639312" y="4023360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7717" y="4061765"/>
            <a:ext cx="106070" cy="10607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913632" y="395020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fraud-loss ratio vs baseline</a:t>
            </a:r>
            <a:endParaRPr lang="en-US" sz="930" dirty="0"/>
          </a:p>
        </p:txBody>
      </p:sp>
      <p:sp>
        <p:nvSpPr>
          <p:cNvPr id="34" name="Shape 24"/>
          <p:cNvSpPr/>
          <p:nvPr/>
        </p:nvSpPr>
        <p:spPr>
          <a:xfrm>
            <a:off x="6300216" y="2331720"/>
            <a:ext cx="2715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519672" y="2532888"/>
            <a:ext cx="475488" cy="475488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2651760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04888" y="2551176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7104888" y="278892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9" name="Shape 28"/>
          <p:cNvSpPr/>
          <p:nvPr/>
        </p:nvSpPr>
        <p:spPr>
          <a:xfrm>
            <a:off x="6537960" y="3218688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6365" y="3257093"/>
            <a:ext cx="106070" cy="10607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812280" y="3145536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uplift vs 15–25% target</a:t>
            </a:r>
            <a:endParaRPr lang="en-US" sz="930" dirty="0"/>
          </a:p>
        </p:txBody>
      </p:sp>
      <p:sp>
        <p:nvSpPr>
          <p:cNvPr id="42" name="Shape 30"/>
          <p:cNvSpPr/>
          <p:nvPr/>
        </p:nvSpPr>
        <p:spPr>
          <a:xfrm>
            <a:off x="6537960" y="3621024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6365" y="3659429"/>
            <a:ext cx="106070" cy="10607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812280" y="354787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incentive tiers &amp; discount guardrails</a:t>
            </a:r>
            <a:endParaRPr lang="en-US" sz="930" dirty="0"/>
          </a:p>
        </p:txBody>
      </p:sp>
      <p:sp>
        <p:nvSpPr>
          <p:cNvPr id="45" name="Shape 32"/>
          <p:cNvSpPr/>
          <p:nvPr/>
        </p:nvSpPr>
        <p:spPr>
          <a:xfrm>
            <a:off x="6537960" y="4023360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6365" y="4061765"/>
            <a:ext cx="106070" cy="10607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812280" y="395020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ROI to the business</a:t>
            </a:r>
            <a:endParaRPr lang="en-US" sz="930" dirty="0"/>
          </a:p>
        </p:txBody>
      </p:sp>
      <p:sp>
        <p:nvSpPr>
          <p:cNvPr id="48" name="Text 34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49" name="Text 35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560320"/>
            <a:ext cx="4023360" cy="402336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21208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 — Fraud Performance &amp; Cardholder Growth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31775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3044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Phone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6424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+62 812 4154 4992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17720" y="30632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31775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21224" y="3044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221224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 Simanjorang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38404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9547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06424" y="3822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06424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deleonard20@gmail.com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17720" y="38404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39547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21224" y="3822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221224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github.com/deleonard20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377440"/>
            <a:ext cx="4023360" cy="402336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-1371600"/>
            <a:ext cx="2743200" cy="2743200"/>
          </a:xfrm>
          <a:prstGeom prst="ellipse">
            <a:avLst/>
          </a:prstGeom>
          <a:solidFill>
            <a:srgbClr val="2A3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2120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source, cleaning, RFM logic and analyst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Nexantara Financial  ·  Deleonard Simanjorang  ·  2026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DATA SOURCE &amp; CLEANING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Tables, Merged and Cleaned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7276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17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792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5,559 → 5,528 rows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2376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Card-level attributes: brand, credit limit, expiry, L6M non-fraud &amp; fraud transaction count/value.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157276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6824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17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1792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1,938 cardholders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82896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master: birthdate, income, debt — enriched with derived Age, Retired flag and DTI.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50292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0352" y="3172968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38" y="3219054"/>
            <a:ext cx="127284" cy="1272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" y="31181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data types to match the data dictionary; strip 'Rp' &amp; thousands separators to float.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30352" y="3502152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8" y="3548238"/>
            <a:ext cx="127284" cy="1272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9536" y="34472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 as 0 (empty credit-limit / transaction fields = no facility / no activity).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30352" y="3831336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38" y="3877422"/>
            <a:ext cx="127284" cy="1272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9536" y="3776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card-brand typos (Jcb → JCB); drop sensitive card_number &amp; cvv.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30352" y="4160520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38" y="4206606"/>
            <a:ext cx="127284" cy="1272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9536" y="41056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duplicates; drop expired cards (post 2025-05-31) and credit-limit = 0.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30352" y="4489704"/>
            <a:ext cx="219456" cy="219456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438" y="4535790"/>
            <a:ext cx="127284" cy="1272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59536" y="44348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Age, Retired flag (≥60) and DTI (total_debt ÷ yearly_income); merge card × user; remove income/debt outliers via IQR.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KEY PYTHON / RFM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Scores Were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aggregation (per cardholder)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8138160" cy="992124"/>
          </a:xfrm>
          <a:prstGeom prst="roundRect">
            <a:avLst>
              <a:gd name="adj" fmla="val 5530"/>
            </a:avLst>
          </a:prstGeom>
          <a:solidFill>
            <a:srgbClr val="1E274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781812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df_rfm = df_merged.groupby('client_id').agg({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'recency':   'min',   # days since last trx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'frequency': 'sum',   # count_nonfraud_trx_L6M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'monetary':  'sum',   # amt_nonfraud_trx_L6M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7111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Quintile scoring (1-5) &amp; segment key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985516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1E27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58668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df_rfm['r_score'] = pd.qcut(recency, 5, labels=[5,4,3,2,1])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df_rfm['f_score'] = pd.qcut(frequency, 5, labels=[1,2,3,4,5])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df_rfm['m_score'] = pd.qcut(monetary, 5, labels=[1,2,3,4,5])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df_rfm['rfm'] = r_score + f_score + m_score  # -&gt; segment map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9273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201668"/>
            <a:ext cx="8138160" cy="653796"/>
          </a:xfrm>
          <a:prstGeom prst="roundRect">
            <a:avLst>
              <a:gd name="adj" fmla="val 8392"/>
            </a:avLst>
          </a:prstGeom>
          <a:solidFill>
            <a:srgbClr val="1E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74820"/>
            <a:ext cx="7818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(cutoff - birthdate).days // 365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retired_flag = (age &gt;= 60).astype(int)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BD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DTI = total_debt / yearly_income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— ABOUT THE ANALYST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Profile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9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4884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 Simanjorang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48840" y="1901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People Analytics &amp; Sales/Card Analytics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2212848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background (Geophysics, Hasanuddin University), strengthened through RevoU Full-Stack Data Analytics and Digital Skola BI programs. Translates workforce and transaction data into decisions that cut attrition, reduce risk and drive revenue.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9" y="3677717"/>
            <a:ext cx="106070" cy="1060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3575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(PostgreSQL, BigQuery, MySQL)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6384" y="3886200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9" y="3924605"/>
            <a:ext cx="106070" cy="1060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60704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384" y="4133088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9" y="4171493"/>
            <a:ext cx="106070" cy="10607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0704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Tableau · Looker Studio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86384" y="4379976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9" y="4418381"/>
            <a:ext cx="106070" cy="10607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0704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(Advanced)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0916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38100" dir="5400000">
              <a:srgbClr val="9AA6BF">
                <a:alpha val="2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928616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Highlights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946904" y="3639312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309" y="3677717"/>
            <a:ext cx="106070" cy="10607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1224" y="3575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analysis — Rp 1.8B savings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946904" y="3886200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5309" y="3924605"/>
            <a:ext cx="106070" cy="10607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21224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— 15–25% growth strategy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946904" y="4133088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5309" y="4171493"/>
            <a:ext cx="106070" cy="10607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221224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cardholder segmentation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946904" y="4379976"/>
            <a:ext cx="182880" cy="182880"/>
          </a:xfrm>
          <a:prstGeom prst="ellipse">
            <a:avLst/>
          </a:prstGeom>
          <a:solidFill>
            <a:srgbClr val="EEF0FC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5309" y="4418381"/>
            <a:ext cx="106070" cy="10607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21224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people analytics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NexaPay Card Analytics</a:t>
            </a:r>
            <a:endParaRPr lang="en-US" sz="850" dirty="0"/>
          </a:p>
        </p:txBody>
      </p:sp>
      <p:sp>
        <p:nvSpPr>
          <p:cNvPr id="38" name="Text 28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NexaPay Card Analytics</dc:title>
  <dc:subject>PptxGenJS Presentation</dc:subject>
  <dc:creator>Deleonard Simanjorang</dc:creator>
  <cp:lastModifiedBy>Deleonard Simanjorang</cp:lastModifiedBy>
  <cp:revision>1</cp:revision>
  <dcterms:created xsi:type="dcterms:W3CDTF">2026-07-08T07:27:32Z</dcterms:created>
  <dcterms:modified xsi:type="dcterms:W3CDTF">2026-07-08T07:27:32Z</dcterms:modified>
</cp:coreProperties>
</file>